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과제 보고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코스피 유동성 분석 자동화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단말 기반 리서치를 공개 데이터로 재현하고,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자동 갱신되는 웹 리포트로 전환한 사례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4206240" cy="457200"/>
          </a:xfrm>
          <a:prstGeom prst="roundRect">
            <a:avLst>
              <a:gd name="adj" fmla="val 20000"/>
            </a:avLst>
          </a:prstGeom>
          <a:solidFill>
            <a:srgbClr val="2A3775"/>
          </a:solidFill>
          <a:ln w="12700">
            <a:solidFill>
              <a:srgbClr val="3D4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480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jj-liquidity-analysis.vercel.app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51663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2026-07-31 기준 · 사용 AI 툴: Claude Code (Opus 5)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84048"/>
            <a:ext cx="10259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주요 내용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61872" y="804672"/>
            <a:ext cx="10259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단말 없이 공개 데이터만으로 시장 유동성 분석을 만들고, 매일 자동으로 갱신·배포한다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3429000" cy="1783080"/>
          </a:xfrm>
          <a:prstGeom prst="roundRect">
            <a:avLst>
              <a:gd name="adj" fmla="val 2564"/>
            </a:avLst>
          </a:prstGeom>
          <a:solidFill>
            <a:srgbClr val="F3F5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600200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16002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20574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증권사 리서치 자료의 계산식을 역설계해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데이터로 동일 결과를 재현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5112" y="1371600"/>
            <a:ext cx="3429000" cy="1783080"/>
          </a:xfrm>
          <a:prstGeom prst="roundRect">
            <a:avLst>
              <a:gd name="adj" fmla="val 2564"/>
            </a:avLst>
          </a:prstGeom>
          <a:solidFill>
            <a:srgbClr val="F3F5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81144" y="1600200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581144" y="16002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81144" y="20574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자료는 하락 위험만 다뤘다.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대차잔고를 더해 상승 여력까지 양방향으로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10144" y="1371600"/>
            <a:ext cx="3429000" cy="1783080"/>
          </a:xfrm>
          <a:prstGeom prst="roundRect">
            <a:avLst>
              <a:gd name="adj" fmla="val 2564"/>
            </a:avLst>
          </a:prstGeom>
          <a:solidFill>
            <a:srgbClr val="F3F5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66176" y="1600200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2E8B6F"/>
          </a:solidFill>
          <a:ln/>
        </p:spPr>
      </p:sp>
      <p:sp>
        <p:nvSpPr>
          <p:cNvPr id="16" name="Text 14"/>
          <p:cNvSpPr/>
          <p:nvPr/>
        </p:nvSpPr>
        <p:spPr>
          <a:xfrm>
            <a:off x="8266176" y="16002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66176" y="20574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수집·계산·검증·빌드·배포를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손 없이 매일 반복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분석이 답하는 두 가지 질문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1088136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379476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27248" y="3794760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44768" y="3794760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070848" y="379476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160520"/>
            <a:ext cx="10881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416052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신용잔고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127248" y="4160520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 더 하락할 수 있나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44768" y="416052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신용융자 잔고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070848" y="416052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반대매매 물량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4617720"/>
            <a:ext cx="10881360" cy="457200"/>
          </a:xfrm>
          <a:prstGeom prst="rect">
            <a:avLst/>
          </a:prstGeom>
          <a:solidFill>
            <a:srgbClr val="F3F5F8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461772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대차잔고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127248" y="4617720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 더 상승할 수 있나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144768" y="461772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대차거래 잔고(공매도 프록시)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070848" y="461772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되갚기 물량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5212080"/>
            <a:ext cx="10881360" cy="868680"/>
          </a:xfrm>
          <a:prstGeom prst="roundRect">
            <a:avLst>
              <a:gd name="adj" fmla="val 5263"/>
            </a:avLst>
          </a:prstGeom>
          <a:solidFill>
            <a:srgbClr val="F3F5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3949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— 웹 리포트(index.html) · 메일용 리포트(email.html) · 방법론 문서(22개 절) · 상태 점검 엔드포인트(status.json)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출처: 금융투자협회 FREESIS(일별, 2010~), 네이버 금융. 비교 대상: 증권사 House View 자료(2026-07-29).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84048"/>
            <a:ext cx="10259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— 기존 방식의 한계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61872" y="804672"/>
            <a:ext cx="10259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자료는 유료 단말 기반이고, 한 번 만들고 끝나는 정적 산출물이었다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37160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93008" y="1371600"/>
            <a:ext cx="7918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10881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73736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확보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93008" y="1737360"/>
            <a:ext cx="7918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단말(Quantiwise) 구독 필요. 계정 없으면 접근 불가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148840"/>
            <a:ext cx="10881360" cy="411480"/>
          </a:xfrm>
          <a:prstGeom prst="rect">
            <a:avLst/>
          </a:prstGeom>
          <a:solidFill>
            <a:srgbClr val="F3F5F8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14884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 계열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93008" y="2148840"/>
            <a:ext cx="7918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xlsx를 손으로 내려받아야 함 (대차거래·신용공여 분리)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2560320"/>
            <a:ext cx="10881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56032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근거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93008" y="2560320"/>
            <a:ext cx="7918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보고서에 계산식 없음. 숫자만 있고 재현·검증 불가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2971800"/>
            <a:ext cx="10881360" cy="411480"/>
          </a:xfrm>
          <a:prstGeom prst="rect">
            <a:avLst/>
          </a:prstGeom>
          <a:solidFill>
            <a:srgbClr val="F3F5F8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97180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갱신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93008" y="2971800"/>
            <a:ext cx="7918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수작업. 새 데이터가 나와도 사람이 다시 돌려야 반영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3383280"/>
            <a:ext cx="10881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38328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범위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493008" y="3383280"/>
            <a:ext cx="7918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하락 위험(반대매매)만. 반대 방향(숏커버) 시각 없음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3794760"/>
            <a:ext cx="10881360" cy="411480"/>
          </a:xfrm>
          <a:prstGeom prst="rect">
            <a:avLst/>
          </a:prstGeom>
          <a:solidFill>
            <a:srgbClr val="F3F5F8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79476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493008" y="3794760"/>
            <a:ext cx="7918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전달. 모바일에서 깨지고, 최신본인지 알 수 없음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206240"/>
            <a:ext cx="10881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420624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보증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493008" y="4206240"/>
            <a:ext cx="7918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수식 오류가 나도 걸러낼 장치 없음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4480560"/>
            <a:ext cx="10881360" cy="1417320"/>
          </a:xfrm>
          <a:prstGeom prst="roundRect">
            <a:avLst>
              <a:gd name="adj" fmla="val 3226"/>
            </a:avLst>
          </a:prstGeom>
          <a:solidFill>
            <a:srgbClr val="FDF1EC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64515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문제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14400" y="49834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접근 장벽 — 유료 단말이 없으면 시작조차 못 한다   ② 재현 불가 — 숫자를 믿을 근거가 자료 안에 없다   ③ 시점 고정 — 만든 날짜에 멈춰 있어, 급변하는 국면에서 가치가 빠르게 사라진다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급락 국면에서는 하루만 지나도 판단 근거가 달라진다 — 정적 산출물의 한계가 가장 크게 드러나는 구간이다.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84048"/>
            <a:ext cx="10259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 — 전환 결과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61872" y="804672"/>
            <a:ext cx="10259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API 파이프라인 + 완전 자동 갱신 + 검증 게이트를 갖춘 상시 리포트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37160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44368" y="137160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38928" y="1371600"/>
            <a:ext cx="6272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737360"/>
            <a:ext cx="10881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73736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확보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44368" y="173736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전액 공개 소스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138928" y="1737360"/>
            <a:ext cx="6272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FREESIS·네이버 API. 구독 비용 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148840"/>
            <a:ext cx="10881360" cy="411480"/>
          </a:xfrm>
          <a:prstGeom prst="rect">
            <a:avLst/>
          </a:prstGeom>
          <a:solidFill>
            <a:srgbClr val="F3F5F8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14884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단계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44368" y="214884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2건 → 1건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138928" y="2148840"/>
            <a:ext cx="6272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대차거래는 API 경로를 찾아 자동화. 분리 신용공여만 남음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2560320"/>
            <a:ext cx="10881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56032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근거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944368" y="256032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과정 문서화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138928" y="2560320"/>
            <a:ext cx="6272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역설계 과정·가정·한계를 22개 절로 기록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2971800"/>
            <a:ext cx="10881360" cy="411480"/>
          </a:xfrm>
          <a:prstGeom prst="rect">
            <a:avLst/>
          </a:prstGeom>
          <a:solidFill>
            <a:srgbClr val="F3F5F8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297180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갱신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944368" y="297180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자동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138928" y="2971800"/>
            <a:ext cx="6272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평일 19:30 / 다음날 08:30 클라우드 실행, PC 무관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3383280"/>
            <a:ext cx="10881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338328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범위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944368" y="338328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양방향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138928" y="3383280"/>
            <a:ext cx="6272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하락 위험 + 상승 여력을 같은 구조의 벤치마크로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3794760"/>
            <a:ext cx="10881360" cy="411480"/>
          </a:xfrm>
          <a:prstGeom prst="rect">
            <a:avLst/>
          </a:prstGeom>
          <a:solidFill>
            <a:srgbClr val="F3F5F8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379476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944368" y="379476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 URL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138928" y="3794760"/>
            <a:ext cx="6272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웹·메일 두 버전. 데이터는 배포에서 차단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4206240"/>
            <a:ext cx="10881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420624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보증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944368" y="420624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게이트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138928" y="4206240"/>
            <a:ext cx="6272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불변식 검사 실패 시 커밋·배포 자체를 중단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0080" y="4480560"/>
            <a:ext cx="5349240" cy="1417320"/>
          </a:xfrm>
          <a:prstGeom prst="roundRect">
            <a:avLst>
              <a:gd name="adj" fmla="val 3226"/>
            </a:avLst>
          </a:prstGeom>
          <a:solidFill>
            <a:srgbClr val="EAF5F1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464515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검증이 게이트다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14400" y="4983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자료 재현 오차, 사이클 정합, 상관계수 범위 등을 매 실행마다 검사한다. 하나라도 깨지면 배포되지 않는다.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172200" y="4480560"/>
            <a:ext cx="5349240" cy="1417320"/>
          </a:xfrm>
          <a:prstGeom prst="roundRect">
            <a:avLst>
              <a:gd name="adj" fmla="val 3226"/>
            </a:avLst>
          </a:prstGeom>
          <a:solidFill>
            <a:srgbClr val="F3F5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464515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실패도 공개된다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446520" y="4983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저장소가 비공개라 실행 로그를 볼 수 없다. 실행일·계열별 반영일·실패 단계를 status.json으로 내보내 배포한다.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바뀌지 않은 날은 커밋하지 않는다 — 변경 이력이 의미 있는 변화만 담도록.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84048"/>
            <a:ext cx="10259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활용한 AI 툴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61872" y="804672"/>
            <a:ext cx="10259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(Opus 5) 단일 도구로 분석 설계부터 배포·운영까지 수행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10881360" cy="868680"/>
          </a:xfrm>
          <a:prstGeom prst="roundRect">
            <a:avLst>
              <a:gd name="adj" fmla="val 5263"/>
            </a:avLst>
          </a:prstGeom>
          <a:solidFill>
            <a:srgbClr val="F3F5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6230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16230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4813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 역설계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1481328"/>
            <a:ext cx="74066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계산식이 없는 원 자료에서 버킷 폭·마진콜 계수·배분 규칙·기간을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제약조건으로 두고 후보를 대조해 규칙을 특정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368296"/>
            <a:ext cx="10881360" cy="868680"/>
          </a:xfrm>
          <a:prstGeom prst="roundRect">
            <a:avLst>
              <a:gd name="adj" fmla="val 5263"/>
            </a:avLst>
          </a:prstGeom>
          <a:solidFill>
            <a:srgbClr val="F3F5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261975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26197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24780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경로 발굴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2478024"/>
            <a:ext cx="74066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막힌 API를 단계적으로 좁히고, 브라우저로 실제 요청을 캡처해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 파라미터를 찾아 수동 다운로드를 자동화로 전환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364992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F3F5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351129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3474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40480" y="347472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수집·계산·검증·리포트 생성 스크립트 일체. 외부 패키지 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151376"/>
            <a:ext cx="10881360" cy="868680"/>
          </a:xfrm>
          <a:prstGeom prst="roundRect">
            <a:avLst>
              <a:gd name="adj" fmla="val 5263"/>
            </a:avLst>
          </a:prstGeom>
          <a:solidFill>
            <a:srgbClr val="F3F5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112" y="440283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44028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42611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디버깅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840480" y="4261104"/>
            <a:ext cx="74066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로컬에서만 되고 서버에서 깨지는 문제를, 진단 정보를 산출물에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심는 방식으로 원격 추적해 원인 특정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148072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F3F5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6112" y="529437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896112" y="5294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17320" y="5257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문서화·배포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840480" y="525780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 문서, 저장소·자동화 구성, 정적 호스팅 연결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유료 데이터 단말·플러그인 없이, 대화형 코딩 도구 하나로 전 과정을 수행했다.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84048"/>
            <a:ext cx="10259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성과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61872" y="804672"/>
            <a:ext cx="10259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지표는 실측값, 기대 성과는 별도 표기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2560320" cy="1508760"/>
          </a:xfrm>
          <a:prstGeom prst="roundRect">
            <a:avLst>
              <a:gd name="adj" fmla="val 3030"/>
            </a:avLst>
          </a:prstGeom>
          <a:solidFill>
            <a:srgbClr val="F3F5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179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자료 재현 오차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0.051</a:t>
            </a:r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조원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41248" y="23042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막대 11개 평균 절대오차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01568" y="1371600"/>
            <a:ext cx="2560320" cy="1508760"/>
          </a:xfrm>
          <a:prstGeom prst="roundRect">
            <a:avLst>
              <a:gd name="adj" fmla="val 3030"/>
            </a:avLst>
          </a:prstGeom>
          <a:solidFill>
            <a:srgbClr val="F3F5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2736" y="15179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검증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02736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4,096</a:t>
            </a:r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행 일치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3602736" y="23042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경로 = 수동 xlsx (불일치 0)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63056" y="1371600"/>
            <a:ext cx="2560320" cy="1508760"/>
          </a:xfrm>
          <a:prstGeom prst="roundRect">
            <a:avLst>
              <a:gd name="adj" fmla="val 3030"/>
            </a:avLst>
          </a:prstGeom>
          <a:solidFill>
            <a:srgbClr val="F3F5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15179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작업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64224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2건 → 1건</a:t>
            </a:r>
            <a:pPr indent="0" marL="0">
              <a:buNone/>
            </a:pP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364224" y="23042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대차거래 자동화로 제거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24544" y="1371600"/>
            <a:ext cx="2560320" cy="1508760"/>
          </a:xfrm>
          <a:prstGeom prst="roundRect">
            <a:avLst>
              <a:gd name="adj" fmla="val 3030"/>
            </a:avLst>
          </a:prstGeom>
          <a:solidFill>
            <a:srgbClr val="F3F5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25712" y="15179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비용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25712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9125712" y="23042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API + 무료 실행·호스팅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30632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실현된 성과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0080" y="34290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63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단말 없이 동일 수준 결과 산출</a:t>
            </a:r>
            <a:endParaRPr lang="en-US" sz="1250" dirty="0"/>
          </a:p>
          <a:p>
            <a:pPr marL="342900" indent="-342900">
              <a:lnSpc>
                <a:spcPts val="2063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수작업 갱신 → 하루 2회 무인 갱신</a:t>
            </a:r>
            <a:endParaRPr lang="en-US" sz="1250" dirty="0"/>
          </a:p>
          <a:p>
            <a:pPr marL="342900" indent="-342900">
              <a:lnSpc>
                <a:spcPts val="2063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자료에 없던 상승 여력 분석 신규 확보</a:t>
            </a:r>
            <a:endParaRPr lang="en-US" sz="1250" dirty="0"/>
          </a:p>
          <a:p>
            <a:pPr marL="342900" indent="-342900">
              <a:lnSpc>
                <a:spcPts val="2063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근거·한계 전면 공개로 검증 가능</a:t>
            </a:r>
            <a:endParaRPr lang="en-US" sz="1250" dirty="0"/>
          </a:p>
          <a:p>
            <a:pPr marL="342900" indent="-342900">
              <a:lnSpc>
                <a:spcPts val="2063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모바일·메일에서 깨지지 않는 배포본 확보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0" y="30632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성과 (아이디어)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00800" y="34290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63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틀을 타 지표·타 시장으로 복제</a:t>
            </a:r>
            <a:endParaRPr lang="en-US" sz="1250" dirty="0"/>
          </a:p>
          <a:p>
            <a:pPr marL="342900" indent="-342900">
              <a:lnSpc>
                <a:spcPts val="2063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급변 구간에서 판단 근거를 매일 최신화</a:t>
            </a:r>
            <a:endParaRPr lang="en-US" sz="1250" dirty="0"/>
          </a:p>
          <a:p>
            <a:pPr marL="342900" indent="-342900">
              <a:lnSpc>
                <a:spcPts val="2063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리서치 산출물의 재현 가능성을 기본값으로</a:t>
            </a:r>
            <a:endParaRPr lang="en-US" sz="1250" dirty="0"/>
          </a:p>
          <a:p>
            <a:pPr marL="342900" indent="-342900">
              <a:lnSpc>
                <a:spcPts val="2063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확보에 쓰던 시간을 해석에 재배치</a:t>
            </a:r>
            <a:endParaRPr lang="en-US" sz="1250" dirty="0"/>
          </a:p>
          <a:p>
            <a:pPr marL="342900" indent="-342900">
              <a:lnSpc>
                <a:spcPts val="2063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 자동 감지·알림으로 확장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오차 0.051조원 = 원 자료 막대 11개 대비 평균 절대오차. 독립 검증축(고점 대비 감소폭)도 원문 서술과 일치했다.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84048"/>
            <a:ext cx="10259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시사점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61872" y="804672"/>
            <a:ext cx="10259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과제에서 일반화할 수 있는 것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10881360" cy="1115568"/>
          </a:xfrm>
          <a:prstGeom prst="roundRect">
            <a:avLst>
              <a:gd name="adj" fmla="val 4098"/>
            </a:avLst>
          </a:prstGeom>
          <a:solidFill>
            <a:srgbClr val="F3F5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6550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1655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453896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데이터의 도달 범위는 생각보다 넓다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1783080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단말을 전제로 하던 분석이 공개 API로 재현됐다. 막혔다고 알려진 경로도 실제 요청을 관찰하면 파라미터 누락인 경우가 있었다 — "불가"와 "아직 못 찾음"은 다르다.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10881360" cy="1115568"/>
          </a:xfrm>
          <a:prstGeom prst="roundRect">
            <a:avLst>
              <a:gd name="adj" fmla="val 4098"/>
            </a:avLst>
          </a:prstGeom>
          <a:solidFill>
            <a:srgbClr val="F3F5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288950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2688336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검증을 파이프라인 안에 넣어야 자동화가 안전해진다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017520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갱신은 잘못된 숫자도 자동으로 퍼뜨린다. 불변식 검사를 배포 앞단에 두어, 계산이 깨지면 아무것도 나가지 않게 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10881360" cy="1115568"/>
          </a:xfrm>
          <a:prstGeom prst="roundRect">
            <a:avLst>
              <a:gd name="adj" fmla="val 4098"/>
            </a:avLst>
          </a:prstGeom>
          <a:solidFill>
            <a:srgbClr val="F3F5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4123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3922776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가능성은 설계 대상이다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4251960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로그를 볼 수 없는 환경에서, 진단 정보를 산출물 자체에 실어 배포했다. 덕분에 원격 실패를 로그 없이 단계까지 특정할 수 있었다.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029200"/>
            <a:ext cx="10881360" cy="1115568"/>
          </a:xfrm>
          <a:prstGeom prst="roundRect">
            <a:avLst>
              <a:gd name="adj" fmla="val 4098"/>
            </a:avLst>
          </a:prstGeom>
          <a:solidFill>
            <a:srgbClr val="F3F5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112" y="53583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5157216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가정과 한계를 같이 내보내야 숫자가 쓰인다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5486400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세지 않는지(담보융자), 무엇으로 환산하지 않는지(지수 상승폭)를 명시했다. 범위로 제시하고 단일 값으로 단정하지 않았다.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 자체의 시사점(양방향 모두 직전 사이클 대비 정상화가 상당히 진행)은 리포트 상단 핵심 요약에 있다.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84048"/>
            <a:ext cx="10259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제약사항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61872" y="804672"/>
            <a:ext cx="10259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데이터에서 오는 한계와 운영에서 오는 한계를 나눠 본다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데이터·방법론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120640" cy="3657600"/>
          </a:xfrm>
          <a:prstGeom prst="roundRect">
            <a:avLst>
              <a:gd name="adj" fmla="val 1250"/>
            </a:avLst>
          </a:prstGeom>
          <a:solidFill>
            <a:srgbClr val="FDF1EC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7452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97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신용융자 반대매매는 공표되지 않는다 — 추정이며, 공표되는 반대매매금액은 미수거래분이라 검증값이 아니다</a:t>
            </a:r>
            <a:endParaRPr lang="en-US" sz="1150" dirty="0"/>
          </a:p>
          <a:p>
            <a:pPr marL="342900" indent="-342900">
              <a:lnSpc>
                <a:spcPts val="1897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예탁증권담보융자 25.8조는 청산 트리거 미공표로 모델에서 제외 — 산출은 하한이다</a:t>
            </a:r>
            <a:endParaRPr lang="en-US" sz="1150" dirty="0"/>
          </a:p>
          <a:p>
            <a:pPr marL="342900" indent="-342900">
              <a:lnSpc>
                <a:spcPts val="1897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일별 순증감만 공표되어 같은 날 총매수·총청산을 분리할 수 없다</a:t>
            </a:r>
            <a:endParaRPr lang="en-US" sz="1150" dirty="0"/>
          </a:p>
          <a:p>
            <a:pPr marL="342900" indent="-342900">
              <a:lnSpc>
                <a:spcPts val="1897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숏커버 물량을 지수 상승폭으로 환산할 근거가 데이터에 없다</a:t>
            </a:r>
            <a:endParaRPr lang="en-US" sz="1150" dirty="0"/>
          </a:p>
          <a:p>
            <a:pPr marL="342900" indent="-342900">
              <a:lnSpc>
                <a:spcPts val="1897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담보유지비율이 증권사·계좌별로 달라 민감도로만 제시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0" y="1325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운영·기술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5120640" cy="3657600"/>
          </a:xfrm>
          <a:prstGeom prst="roundRect">
            <a:avLst>
              <a:gd name="adj" fmla="val 1250"/>
            </a:avLst>
          </a:prstGeom>
          <a:solidFill>
            <a:srgbClr val="F3F5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87452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97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유가증권/코스닥 분리 신용공여는 여전히 수동 파일 (API 경로 없음)</a:t>
            </a:r>
            <a:endParaRPr lang="en-US" sz="1150" dirty="0"/>
          </a:p>
          <a:p>
            <a:pPr marL="342900" indent="-342900">
              <a:lnSpc>
                <a:spcPts val="1897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원천이 방화벽 뒤에 있어 차단 시 200 응답에 오류 페이지가 오기도 한다</a:t>
            </a:r>
            <a:endParaRPr lang="en-US" sz="1150" dirty="0"/>
          </a:p>
          <a:p>
            <a:pPr marL="342900" indent="-342900">
              <a:lnSpc>
                <a:spcPts val="1897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대량 조회 시 응답이 잘려 연 단위로 나눠 받아야 했다</a:t>
            </a:r>
            <a:endParaRPr lang="en-US" sz="1150" dirty="0"/>
          </a:p>
          <a:p>
            <a:pPr marL="342900" indent="-342900">
              <a:lnSpc>
                <a:spcPts val="1897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자릿수 초과 값을 특수문자로 내보내 파싱이 깨지는 사례</a:t>
            </a:r>
            <a:endParaRPr lang="en-US" sz="1150" dirty="0"/>
          </a:p>
          <a:p>
            <a:pPr marL="342900" indent="-342900">
              <a:lnSpc>
                <a:spcPts val="1897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 실행은 정시가 아니며, 장기 무활동 시 자동 중지될 수 있다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5486400"/>
            <a:ext cx="10881360" cy="68580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65099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— 소스 하나가 막혀도 나머지는 갱신되게 분리했고, 실패한 소스와 단계를 status.json으로 공개해 원격에서 추적 가능하게 했다.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 전문은 방법론 문서 §7(해석상 주의점), §16.5, §20.4, §22(자동화 디버깅 기록)에 기재.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84048"/>
            <a:ext cx="10259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61872" y="804672"/>
            <a:ext cx="10259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경로와 운영 정보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32588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35808" y="1325880"/>
            <a:ext cx="8375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10881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691640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(공개)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035808" y="1691640"/>
            <a:ext cx="8375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https://jj-liquidity-analysis.vercel.app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112264"/>
            <a:ext cx="10881360" cy="420624"/>
          </a:xfrm>
          <a:prstGeom prst="rect">
            <a:avLst/>
          </a:prstGeom>
          <a:solidFill>
            <a:srgbClr val="F3F5F8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112264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점검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35808" y="2112264"/>
            <a:ext cx="8375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https://jj-liquidity-analysis.vercel.app/status.json — 실행일·계열별 반영일·실패 단계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2532888"/>
            <a:ext cx="10881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532888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035808" y="2532888"/>
            <a:ext cx="8375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비공개. 소스·데이터·방법론 포함, 클론 즉시 재현 가능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2953512"/>
            <a:ext cx="10881360" cy="420624"/>
          </a:xfrm>
          <a:prstGeom prst="rect">
            <a:avLst/>
          </a:prstGeom>
          <a:solidFill>
            <a:srgbClr val="F3F5F8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953512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실행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035808" y="2953512"/>
            <a:ext cx="8375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평일 19:30 / 다음날 08:30 (KST). 클라우드 실행이라 로컬 PC와 무관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3374136"/>
            <a:ext cx="10881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374136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환경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035808" y="3374136"/>
            <a:ext cx="8375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18+ 만 필요. 외부 패키지 설치 없음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3794760"/>
            <a:ext cx="10881360" cy="420624"/>
          </a:xfrm>
          <a:prstGeom prst="rect">
            <a:avLst/>
          </a:prstGeom>
          <a:solidFill>
            <a:srgbClr val="F3F5F8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794760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 문서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035808" y="3794760"/>
            <a:ext cx="8375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docs/methodology.md — 22개 절, 역설계 과정·가정·한계·디버깅 기록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206240"/>
            <a:ext cx="5349240" cy="1691640"/>
          </a:xfrm>
          <a:prstGeom prst="roundRect">
            <a:avLst>
              <a:gd name="adj" fmla="val 2703"/>
            </a:avLst>
          </a:prstGeom>
          <a:solidFill>
            <a:srgbClr val="F3F5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37083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구성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4709160"/>
            <a:ext cx="47548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97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3개 — PART 1 / PART 2 / 전체</a:t>
            </a:r>
            <a:endParaRPr lang="en-US" sz="1150" dirty="0"/>
          </a:p>
          <a:p>
            <a:pPr marL="342900" indent="-342900">
              <a:lnSpc>
                <a:spcPts val="1897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안에서 사이클별로 다시 분리</a:t>
            </a:r>
            <a:endParaRPr lang="en-US" sz="1150" dirty="0"/>
          </a:p>
          <a:p>
            <a:pPr marL="342900" indent="-342900">
              <a:lnSpc>
                <a:spcPts val="1897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지표를 누르면 1년 추세 전개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72200" y="4206240"/>
            <a:ext cx="5349240" cy="1691640"/>
          </a:xfrm>
          <a:prstGeom prst="roundRect">
            <a:avLst>
              <a:gd name="adj" fmla="val 2703"/>
            </a:avLst>
          </a:prstGeom>
          <a:solidFill>
            <a:srgbClr val="EAF5F1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437083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처리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46520" y="470916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2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저장소는 비공개지만 배포된 사이트는 공개다. 원본 데이터·스크립트·방법론 문서는 배포에서 제외해 URL로 노출되지 않는다. 공개되는 것은 리포트와 상태 정보뿐이다.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대상 원 자료(제3자 저작물)는 저장소에 포함하지 않았다. 필요한 값은 방법론 문서에 표로 옮겨 기재.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코스피 유동성 분석 — 과제 보고</dc:title>
  <dc:subject>PptxGenJS Presentation</dc:subject>
  <dc:creator>PptxGenJS</dc:creator>
  <cp:lastModifiedBy>PptxGenJS</cp:lastModifiedBy>
  <cp:revision>1</cp:revision>
  <dcterms:created xsi:type="dcterms:W3CDTF">2026-07-31T07:07:03Z</dcterms:created>
  <dcterms:modified xsi:type="dcterms:W3CDTF">2026-07-31T07:07:03Z</dcterms:modified>
</cp:coreProperties>
</file>